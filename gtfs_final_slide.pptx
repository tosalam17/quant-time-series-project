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63E61F-4F08-42E4-94C1-36E16CBE3FAC}">
  <a:tblStyle styleId="{1A63E61F-4F08-42E4-94C1-36E16CBE3F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2C68B2"/>
              </a:gs>
              <a:gs pos="100000">
                <a:srgbClr val="162B46"/>
              </a:gs>
            </a:gsLst>
            <a:lin ang="5400012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-50" y="0"/>
            <a:ext cx="12189000" cy="960000"/>
          </a:xfrm>
          <a:prstGeom prst="rect">
            <a:avLst/>
          </a:prstGeom>
          <a:gradFill>
            <a:gsLst>
              <a:gs pos="0">
                <a:srgbClr val="7DC3D6"/>
              </a:gs>
              <a:gs pos="100000">
                <a:srgbClr val="39839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74901" y="264600"/>
            <a:ext cx="11238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 Forecasting of U.S. Equities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0" y="960125"/>
            <a:ext cx="12189000" cy="238500"/>
          </a:xfrm>
          <a:prstGeom prst="rect">
            <a:avLst/>
          </a:prstGeom>
          <a:gradFill>
            <a:gsLst>
              <a:gs pos="0">
                <a:srgbClr val="7DC3D6"/>
              </a:gs>
              <a:gs pos="100000">
                <a:srgbClr val="398397"/>
              </a:gs>
            </a:gsLst>
            <a:lin ang="5400012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47472" y="969264"/>
            <a:ext cx="1143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ARIMA  ·  LSTM (PyTorch)  ·  N-HiTS (NeuralForecast)   |   AAPL · GOOGL · MSFT · NVDA   |   200-Day Out-of-Sample Evaluation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292608" y="1353312"/>
            <a:ext cx="45720" cy="1828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74904" y="1353312"/>
            <a:ext cx="548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E3A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PERFORMANCE  (log return RMSE / MAE)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2" name="Google Shape;92;p13"/>
          <p:cNvGraphicFramePr/>
          <p:nvPr/>
        </p:nvGraphicFramePr>
        <p:xfrm>
          <a:off x="292608" y="15727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{1A63E61F-4F08-42E4-94C1-36E16CBE3FAC}</a:tableStyleId>
              </a:tblPr>
              <a:tblGrid>
                <a:gridCol w="576075"/>
                <a:gridCol w="768100"/>
                <a:gridCol w="713225"/>
                <a:gridCol w="768100"/>
                <a:gridCol w="713225"/>
                <a:gridCol w="841250"/>
                <a:gridCol w="76810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ARIMA RMSE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ARIMA MAE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 RMSE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 MAE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N-HiTS RMSE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N-HiTS MAE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AAPL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0.02298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0.01751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9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0.01810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9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0.01325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0.02442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0.01910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GOOGL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0.02465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0.01880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0.02595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0.01879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0.02591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0.01984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MSFT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0.02244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0.01702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0.02199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0.01617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0.02392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0.01825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NVDA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0.03930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0.03101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0.03865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0.02782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0.04470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0.03548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" name="Google Shape;93;p13"/>
          <p:cNvSpPr txBox="1"/>
          <p:nvPr/>
        </p:nvSpPr>
        <p:spPr>
          <a:xfrm>
            <a:off x="292608" y="3163824"/>
            <a:ext cx="6062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7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= LSTM's only statistically significant win (AAPL)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292608" y="3383280"/>
            <a:ext cx="11686032" cy="22860"/>
          </a:xfrm>
          <a:prstGeom prst="rect">
            <a:avLst/>
          </a:prstGeom>
          <a:solidFill>
            <a:srgbClr val="CBD5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6675120" y="1353312"/>
            <a:ext cx="45720" cy="1828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757416" y="1353312"/>
            <a:ext cx="5029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E3A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DIEBOLD-MARIANO TEST  (α = 0.05)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7" name="Google Shape;97;p13"/>
          <p:cNvGraphicFramePr/>
          <p:nvPr/>
        </p:nvGraphicFramePr>
        <p:xfrm>
          <a:off x="6675120" y="15727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{1A63E61F-4F08-42E4-94C1-36E16CBE3FAC}</a:tableStyleId>
              </a:tblPr>
              <a:tblGrid>
                <a:gridCol w="548650"/>
                <a:gridCol w="1005850"/>
                <a:gridCol w="731525"/>
                <a:gridCol w="1051550"/>
                <a:gridCol w="7315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DM (ARIMA vs LSTM)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DM (LSTM vs N-HiTS)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gradFill>
                      <a:gsLst>
                        <a:gs pos="0">
                          <a:srgbClr val="2C68B2"/>
                        </a:gs>
                        <a:gs pos="100000">
                          <a:srgbClr val="162B46"/>
                        </a:gs>
                      </a:gsLst>
                      <a:lin ang="5400012" scaled="0"/>
                    </a:gra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AAPL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+2.47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9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0.014 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−3.05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9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0.002 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GOOGL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−0.51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0.608 ✗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+0.01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0.988 ✗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CCCC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MSFT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+0.21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0.830 ✗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−0.92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0.357 ✗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CCCC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NVDA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+0.15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0.883 ✗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−1.40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0.163 ✗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13"/>
          <p:cNvSpPr txBox="1"/>
          <p:nvPr/>
        </p:nvSpPr>
        <p:spPr>
          <a:xfrm>
            <a:off x="6675120" y="3163824"/>
            <a:ext cx="5029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7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significant   ✗ not significant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292608" y="3493008"/>
            <a:ext cx="45720" cy="182880"/>
          </a:xfrm>
          <a:prstGeom prst="rect">
            <a:avLst/>
          </a:prstGeom>
          <a:solidFill>
            <a:srgbClr val="B45A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374904" y="3493008"/>
            <a:ext cx="10972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E3A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292608" y="3730752"/>
            <a:ext cx="2761488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292608" y="3730752"/>
            <a:ext cx="2761488" cy="5486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402336" y="3840480"/>
            <a:ext cx="2560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EMH Confirmed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02336" y="4151376"/>
            <a:ext cx="2541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 u="none" cap="none" strike="noStrike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of 8 DM comparisons are statistically indistinguishable from noise. Daily log returns are dominated by randomness, and model complexity alone does not translate into better out-of-sample accuracy</a:t>
            </a:r>
            <a:r>
              <a:rPr lang="en-US" sz="85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This is once again </a:t>
            </a:r>
            <a:r>
              <a:rPr i="0" lang="en-US" sz="850" u="none" cap="none" strike="noStrike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consistent with the weak form of the Efficient Market Hypothesis.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3172968" y="3730752"/>
            <a:ext cx="2761488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3172968" y="3730752"/>
            <a:ext cx="2761488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3282696" y="3840480"/>
            <a:ext cx="2560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3A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Wins on AAPL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282696" y="4151376"/>
            <a:ext cx="2541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 u="none" cap="none" strike="noStrike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is the best-performing model overall and delivers the only statistically proven improvement</a:t>
            </a:r>
            <a:r>
              <a:rPr lang="en-US" sz="85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0" lang="en-US" sz="850" u="none" cap="none" strike="noStrike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outperforming both ARIMA (p=0.014) and N-HiTS (p=0.002) on AAPL, the one ticker with learnable short-term nonlinear structure.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6053328" y="3730752"/>
            <a:ext cx="2761488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6053328" y="3730752"/>
            <a:ext cx="2761488" cy="54864"/>
          </a:xfrm>
          <a:prstGeom prst="rect">
            <a:avLst/>
          </a:prstGeom>
          <a:solidFill>
            <a:srgbClr val="5B21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6163056" y="3840480"/>
            <a:ext cx="2560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B21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Mismatch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6163056" y="4151376"/>
            <a:ext cx="2541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 u="none" cap="none" strike="noStrike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N-HiTS (3.1M params) underperforms LSTM (~16K params) on every ticker. Its hierarchical decomposition is designed for trend/seasonality</a:t>
            </a:r>
            <a:r>
              <a:rPr lang="en-US" sz="85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These </a:t>
            </a:r>
            <a:r>
              <a:rPr i="0" lang="en-US" sz="850" u="none" cap="none" strike="noStrike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structures are largely absent in near-random equity log returns.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8933688" y="3730752"/>
            <a:ext cx="2761488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8933688" y="3730752"/>
            <a:ext cx="2761488" cy="54864"/>
          </a:xfrm>
          <a:prstGeom prst="rect">
            <a:avLst/>
          </a:prstGeom>
          <a:solidFill>
            <a:srgbClr val="B45A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9043415" y="3840480"/>
            <a:ext cx="2560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B45A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NVDA Hardest to Forecast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9043415" y="4151376"/>
            <a:ext cx="254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 u="none" cap="none" strike="noStrike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NVDA produces the highest errors across all three models</a:t>
            </a:r>
            <a:r>
              <a:rPr lang="en-US" sz="85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This is </a:t>
            </a:r>
            <a:r>
              <a:rPr i="0" lang="en-US" sz="850" u="none" cap="none" strike="noStrike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driven by idiosyncratic volatility and AI/GPU-sector news sensitivity that no purely historical model can anticipate.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0" y="6627300"/>
            <a:ext cx="12189000" cy="230700"/>
          </a:xfrm>
          <a:prstGeom prst="rect">
            <a:avLst/>
          </a:prstGeom>
          <a:gradFill>
            <a:gsLst>
              <a:gs pos="0">
                <a:srgbClr val="2C68B2"/>
              </a:gs>
              <a:gs pos="100000">
                <a:srgbClr val="162B46"/>
              </a:gs>
            </a:gsLst>
            <a:lin ang="5400012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347472" y="6611112"/>
            <a:ext cx="1164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5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GTSF Quant Mentorship S26  ·  Toye Salami  ·  2026  ·  Data: yfinance (2007–202</a:t>
            </a:r>
            <a:r>
              <a:rPr lang="en-US" sz="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0" lang="en-US" sz="75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·  Models: ARIMA(1,1,1) · LSTM (PyTorch) · N-HiTS (NeuralForecast)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